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4"/>
  </p:notesMasterIdLst>
  <p:handoutMasterIdLst>
    <p:handoutMasterId r:id="rId15"/>
  </p:handoutMasterIdLst>
  <p:sldIdLst>
    <p:sldId id="2147479510" r:id="rId6"/>
    <p:sldId id="2147478840" r:id="rId7"/>
    <p:sldId id="2147478866" r:id="rId8"/>
    <p:sldId id="2147478862" r:id="rId9"/>
    <p:sldId id="2147478861" r:id="rId10"/>
    <p:sldId id="2147478864" r:id="rId11"/>
    <p:sldId id="2147479513" r:id="rId12"/>
    <p:sldId id="214747951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8780"/>
    <a:srgbClr val="7F77DD"/>
    <a:srgbClr val="1D9E75"/>
    <a:srgbClr val="D85A30"/>
    <a:srgbClr val="EF9F27"/>
    <a:srgbClr val="FFFFFF"/>
    <a:srgbClr val="00FFFF"/>
    <a:srgbClr val="FFFF00"/>
    <a:srgbClr val="000048"/>
    <a:srgbClr val="058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EA6A82-E23E-4618-B460-B2D34357B2A3}" v="1" dt="2026-05-07T04:29:18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584"/>
        <p:guide orient="horz" pos="3480"/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08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  <p:sldLayoutId id="2147483991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C2E60-57B6-1161-2BEC-AEB5B3562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659" y="3930888"/>
            <a:ext cx="8849360" cy="2853369"/>
          </a:xfrm>
        </p:spPr>
        <p:txBody>
          <a:bodyPr/>
          <a:lstStyle/>
          <a:p>
            <a:r>
              <a:rPr lang="en-US" sz="1800" dirty="0">
                <a:solidFill>
                  <a:srgbClr val="26EFE9"/>
                </a:solidFill>
              </a:rPr>
              <a:t>Idea Title </a:t>
            </a:r>
            <a:r>
              <a:rPr lang="en-US" sz="1800" dirty="0">
                <a:solidFill>
                  <a:schemeClr val="bg2"/>
                </a:solidFill>
              </a:rPr>
              <a:t>: </a:t>
            </a:r>
            <a:r>
              <a:rPr lang="en-IN" sz="1800" dirty="0">
                <a:solidFill>
                  <a:schemeClr val="bg2"/>
                </a:solidFill>
              </a:rPr>
              <a:t>NovaCare – Post-Discharge Care Intelligence Platform</a:t>
            </a:r>
          </a:p>
          <a:p>
            <a:endParaRPr lang="en-US" sz="1800" dirty="0">
              <a:solidFill>
                <a:srgbClr val="00FFFF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Team Captain Name : </a:t>
            </a:r>
            <a:r>
              <a:rPr lang="en-US" sz="1800" dirty="0">
                <a:solidFill>
                  <a:schemeClr val="bg2"/>
                </a:solidFill>
              </a:rPr>
              <a:t>Naman Sharma</a:t>
            </a:r>
          </a:p>
          <a:p>
            <a:endParaRPr lang="en-US" sz="1800" dirty="0">
              <a:solidFill>
                <a:srgbClr val="26EFE9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Team members Names : </a:t>
            </a:r>
            <a:r>
              <a:rPr lang="fi-FI" sz="1800" dirty="0">
                <a:solidFill>
                  <a:schemeClr val="bg2"/>
                </a:solidFill>
              </a:rPr>
              <a:t>Naman Sharma, Koustav Paul, Puspita Jana, Kasturi Dewan</a:t>
            </a:r>
            <a:endParaRPr lang="en-US" sz="1800" dirty="0">
              <a:solidFill>
                <a:schemeClr val="bg2"/>
              </a:solidFill>
            </a:endParaRPr>
          </a:p>
          <a:p>
            <a:endParaRPr lang="en-US" sz="1800" dirty="0">
              <a:solidFill>
                <a:srgbClr val="26EFE9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College Name : </a:t>
            </a:r>
            <a:r>
              <a:rPr lang="en-US" sz="1800" dirty="0">
                <a:solidFill>
                  <a:schemeClr val="bg2"/>
                </a:solidFill>
              </a:rPr>
              <a:t>JIS College Of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659" y="3089568"/>
            <a:ext cx="9338360" cy="677108"/>
          </a:xfrm>
        </p:spPr>
        <p:txBody>
          <a:bodyPr/>
          <a:lstStyle/>
          <a:p>
            <a:r>
              <a:rPr lang="en-IN" sz="4400" dirty="0">
                <a:solidFill>
                  <a:schemeClr val="bg1"/>
                </a:solidFill>
              </a:rPr>
              <a:t>MVP Presentation &lt;AvengersJIS&gt;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02A26-20BE-A868-1EF4-0D5B5AD7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6582B-619F-8A2F-6721-73ADF246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7E854-FB88-F691-0540-9B912B90C3F6}"/>
              </a:ext>
            </a:extLst>
          </p:cNvPr>
          <p:cNvSpPr/>
          <p:nvPr/>
        </p:nvSpPr>
        <p:spPr>
          <a:xfrm>
            <a:off x="2648859" y="927463"/>
            <a:ext cx="5620070" cy="589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u="sng" dirty="0">
                <a:solidFill>
                  <a:schemeClr val="tx1"/>
                </a:solidFill>
              </a:rPr>
              <a:t>Where NovaCare Began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5D5C73-3CDA-BF11-7B95-2375F18A14D4}"/>
              </a:ext>
            </a:extLst>
          </p:cNvPr>
          <p:cNvSpPr txBox="1"/>
          <p:nvPr/>
        </p:nvSpPr>
        <p:spPr>
          <a:xfrm>
            <a:off x="1641987" y="1804220"/>
            <a:ext cx="7620000" cy="2207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Imagine leaving the hospital with pages of instructions but not fully understanding what comes next.</a:t>
            </a:r>
          </a:p>
          <a:p>
            <a:r>
              <a:rPr lang="en-US" sz="2000" dirty="0">
                <a:solidFill>
                  <a:schemeClr val="tx2"/>
                </a:solidFill>
              </a:rPr>
              <a:t>For many patients, this is reality.</a:t>
            </a:r>
          </a:p>
          <a:p>
            <a:r>
              <a:rPr lang="en-US" sz="2000" dirty="0">
                <a:solidFill>
                  <a:schemeClr val="tx2"/>
                </a:solidFill>
              </a:rPr>
              <a:t>They return home confused about medicines, warning </a:t>
            </a:r>
            <a:r>
              <a:rPr lang="en-US" sz="2000" dirty="0" err="1">
                <a:solidFill>
                  <a:schemeClr val="tx2"/>
                </a:solidFill>
              </a:rPr>
              <a:t>signs,and</a:t>
            </a:r>
            <a:r>
              <a:rPr lang="en-US" sz="2000" dirty="0">
                <a:solidFill>
                  <a:schemeClr val="tx2"/>
                </a:solidFill>
              </a:rPr>
              <a:t> discharge instructions—simply because of language barriers.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Their families try to </a:t>
            </a:r>
            <a:r>
              <a:rPr lang="en-US" sz="2000" dirty="0" err="1">
                <a:solidFill>
                  <a:schemeClr val="tx2"/>
                </a:solidFill>
              </a:rPr>
              <a:t>help,but</a:t>
            </a:r>
            <a:r>
              <a:rPr lang="en-US" sz="2000" dirty="0">
                <a:solidFill>
                  <a:schemeClr val="tx2"/>
                </a:solidFill>
              </a:rPr>
              <a:t> they struggle to understand too.</a:t>
            </a:r>
          </a:p>
          <a:p>
            <a:r>
              <a:rPr lang="en-US" sz="2000" dirty="0">
                <a:solidFill>
                  <a:schemeClr val="tx2"/>
                </a:solidFill>
              </a:rPr>
              <a:t>And sometimes, that confusion leads to serious complications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  <a:endParaRPr lang="en-IN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093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B8DBEF-A90E-75BD-2BC7-7AFC952C0D9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217ED1-02B9-3398-C290-8D4133CD5DC4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&lt;&lt;</a:t>
            </a:r>
            <a:r>
              <a:rPr lang="en-US" sz="2400" dirty="0">
                <a:solidFill>
                  <a:srgbClr val="FFFFFF"/>
                </a:solidFill>
                <a:latin typeface="Arial" panose="020B0604020202020204"/>
              </a:rPr>
              <a:t>NovaCare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&gt;&gt;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96E19-4443-120E-D81A-C7692D38A498}"/>
              </a:ext>
            </a:extLst>
          </p:cNvPr>
          <p:cNvSpPr txBox="1"/>
          <p:nvPr/>
        </p:nvSpPr>
        <p:spPr>
          <a:xfrm>
            <a:off x="6212186" y="1439372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r>
              <a:rPr lang="en-IN" sz="1400" b="1" dirty="0"/>
              <a:t>CareBridge</a:t>
            </a:r>
            <a:r>
              <a:rPr lang="en-IN" sz="1400" dirty="0"/>
              <a:t> · 4-agent AI · 30-day post-discharge monitoring</a:t>
            </a:r>
          </a:p>
          <a:p>
            <a:endParaRPr lang="en-IN" sz="1400" dirty="0"/>
          </a:p>
          <a:p>
            <a:r>
              <a:rPr lang="en-IN" sz="1400" b="1" dirty="0"/>
              <a:t>Agent 1 — Discharge Translator</a:t>
            </a:r>
            <a:r>
              <a:rPr lang="en-IN" sz="1400" dirty="0"/>
              <a:t> FHIR → care plan · 12 languages · WhatsApp/IVR · Day 0</a:t>
            </a:r>
          </a:p>
          <a:p>
            <a:endParaRPr lang="en-IN" sz="1400" dirty="0"/>
          </a:p>
          <a:p>
            <a:r>
              <a:rPr lang="en-IN" sz="1400" b="1" dirty="0"/>
              <a:t>Agent 2 — Daily Pulse</a:t>
            </a:r>
            <a:r>
              <a:rPr lang="en-IN" sz="1400" dirty="0"/>
              <a:t> Daily check-ins Days 1–30 · voice + text · NLP symptoms</a:t>
            </a:r>
          </a:p>
          <a:p>
            <a:endParaRPr lang="en-IN" sz="1400" dirty="0"/>
          </a:p>
          <a:p>
            <a:r>
              <a:rPr lang="en-IN" sz="1400" b="1" dirty="0"/>
              <a:t>Agent 3 — Risk Orchestrator</a:t>
            </a:r>
            <a:r>
              <a:rPr lang="en-IN" sz="1400" dirty="0"/>
              <a:t> LightGBM risk scoring · real-time · auto-escalation</a:t>
            </a:r>
          </a:p>
          <a:p>
            <a:endParaRPr lang="en-IN" sz="1400" dirty="0"/>
          </a:p>
          <a:p>
            <a:r>
              <a:rPr lang="en-IN" sz="1400" b="1" dirty="0"/>
              <a:t>Agent 4 — Continuity Bridge</a:t>
            </a:r>
            <a:r>
              <a:rPr lang="en-IN" sz="1400" dirty="0"/>
              <a:t> Medication gaps · UHI bookings · record sync</a:t>
            </a:r>
          </a:p>
          <a:p>
            <a:endParaRPr lang="en-US" sz="1400" b="1" dirty="0"/>
          </a:p>
          <a:p>
            <a:r>
              <a:rPr lang="en-IN" sz="1400" dirty="0"/>
              <a:t>🟢→🟠→🔴 </a:t>
            </a:r>
            <a:r>
              <a:rPr lang="en-IN" sz="1400" b="1" dirty="0"/>
              <a:t>Escalation:</a:t>
            </a:r>
            <a:r>
              <a:rPr lang="en-IN" sz="1400" dirty="0"/>
              <a:t> AI nudge → Teleconsult → Hospital + 108</a:t>
            </a:r>
          </a:p>
          <a:p>
            <a:endParaRPr lang="en-IN" sz="1400" dirty="0"/>
          </a:p>
          <a:p>
            <a:r>
              <a:rPr lang="en-IN" sz="1400" b="1" dirty="0"/>
              <a:t>India Stack:</a:t>
            </a:r>
            <a:r>
              <a:rPr lang="en-IN" sz="1400" dirty="0"/>
              <a:t> ABHA · ABDM · eSanjeevani · UHI</a:t>
            </a:r>
          </a:p>
          <a:p>
            <a:endParaRPr lang="en-IN" sz="1400" dirty="0"/>
          </a:p>
          <a:p>
            <a:r>
              <a:rPr lang="en-IN" sz="1400" b="1" dirty="0"/>
              <a:t>Zero app</a:t>
            </a:r>
            <a:r>
              <a:rPr lang="en-IN" sz="1400" dirty="0"/>
              <a:t> · WhatsApp + IVR only · </a:t>
            </a:r>
            <a:r>
              <a:rPr lang="en-IN" sz="1400" b="1" dirty="0"/>
              <a:t>333x ROI</a:t>
            </a:r>
            <a:endParaRPr lang="en-IN" sz="1400" dirty="0"/>
          </a:p>
          <a:p>
            <a:endParaRPr lang="en-US" sz="1400" b="1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144D771-232B-BF8B-99CB-FE62206D01F0}"/>
              </a:ext>
            </a:extLst>
          </p:cNvPr>
          <p:cNvSpPr/>
          <p:nvPr/>
        </p:nvSpPr>
        <p:spPr>
          <a:xfrm>
            <a:off x="516815" y="1044264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4C65C9D-AA15-5E74-6D9B-F3AD0A55B2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199" y="1439372"/>
            <a:ext cx="5205248" cy="4794279"/>
          </a:xfrm>
        </p:spPr>
        <p:txBody>
          <a:bodyPr/>
          <a:lstStyle/>
          <a:p>
            <a:pPr marL="91440" lvl="0">
              <a:spcBef>
                <a:spcPts val="0"/>
              </a:spcBef>
              <a:defRPr/>
            </a:pPr>
            <a:endParaRPr lang="en-US" sz="1100" dirty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1 in 5 patients in India are readmitted within 30 days after hospital discharge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IN" sz="1400" b="1" dirty="0"/>
              <a:t>74 Cr ABHA IDs exist</a:t>
            </a:r>
            <a:r>
              <a:rPr lang="en-IN" sz="1400" dirty="0"/>
              <a:t> but ZERO post-discharge AI intelligence uses them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IN" sz="1400" dirty="0"/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🇮🇳 India has </a:t>
            </a:r>
            <a:r>
              <a:rPr lang="en-US" sz="1400" b="1" dirty="0"/>
              <a:t>27 Cr+ chronic NCD patients</a:t>
            </a:r>
            <a:r>
              <a:rPr lang="en-US" sz="1400" dirty="0"/>
              <a:t> (Heart Failure, Diabetes, COPD, CKD)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Language barriers prevent patients from understanding discharge instruction.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/>
              <a:t>60% of patients</a:t>
            </a:r>
            <a:r>
              <a:rPr lang="en-US" sz="1400" dirty="0"/>
              <a:t> stop their medication within 30 days due to lack of understanding.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/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Current post-discharge monitoring costs just </a:t>
            </a:r>
            <a:r>
              <a:rPr lang="en-US" sz="1400" b="1" dirty="0"/>
              <a:t>₹120</a:t>
            </a:r>
            <a:r>
              <a:rPr lang="en-US" sz="1400" dirty="0"/>
              <a:t> yet remains completely unused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This is not an exception — </a:t>
            </a:r>
            <a:r>
              <a:rPr lang="en-US" sz="1400" b="1" dirty="0"/>
              <a:t>it is the median story of every discharged patient in India</a:t>
            </a:r>
            <a:endParaRPr lang="en-US" sz="1400" dirty="0"/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DC63FB0-4F2F-5940-C47A-29942B42D70B}"/>
              </a:ext>
            </a:extLst>
          </p:cNvPr>
          <p:cNvSpPr/>
          <p:nvPr/>
        </p:nvSpPr>
        <p:spPr>
          <a:xfrm>
            <a:off x="6188785" y="1024939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Solution Description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1CEA55F-2FE1-D4B5-990B-70972475C51F}"/>
              </a:ext>
            </a:extLst>
          </p:cNvPr>
          <p:cNvSpPr txBox="1">
            <a:spLocks/>
          </p:cNvSpPr>
          <p:nvPr/>
        </p:nvSpPr>
        <p:spPr>
          <a:xfrm>
            <a:off x="6188785" y="1369822"/>
            <a:ext cx="5076246" cy="438073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defRPr/>
            </a:pPr>
            <a:endParaRPr lang="en-US" sz="1400" dirty="0">
              <a:solidFill>
                <a:srgbClr val="000048"/>
              </a:solidFill>
            </a:endParaRPr>
          </a:p>
          <a:p>
            <a:pPr marL="91440"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468F1D-9D6A-599A-0443-E1FFE4CFDA8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17DB3-EA65-1A10-EB44-623354548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F8504-8480-10FB-4507-ACE63C36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7D3AD-54C1-1F86-6123-0DE94629CA8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&lt;&lt;</a:t>
            </a:r>
            <a:r>
              <a:rPr lang="en-US" sz="2400" dirty="0">
                <a:solidFill>
                  <a:srgbClr val="FFFFFF"/>
                </a:solidFill>
                <a:latin typeface="Arial" panose="020B0604020202020204"/>
              </a:rPr>
              <a:t>NovaCare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&gt;&gt;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38E29-9EFF-F208-66A5-0D909001F7B8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DDDEF-C999-7A8D-AE1D-89507AEC296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516815" y="1024940"/>
            <a:ext cx="3924300" cy="39266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Uniqueness / Innovativeness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F293E2CD-A5B9-36EA-2CDA-4A9098BC00B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89280" y="1417601"/>
            <a:ext cx="5413935" cy="4415460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endParaRPr lang="en-US" sz="1400" b="1" dirty="0"/>
          </a:p>
          <a:p>
            <a:pPr marL="220662" indent="-342900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1400" b="1" dirty="0"/>
              <a:t>Vernacular AI for Indian languages</a:t>
            </a:r>
            <a:r>
              <a:rPr lang="en-US" sz="1400" dirty="0"/>
              <a:t> – translates complex medical instructions into simple local language for better understanding</a:t>
            </a:r>
          </a:p>
          <a:p>
            <a:pPr marL="220662" indent="-342900">
              <a:spcBef>
                <a:spcPts val="0"/>
              </a:spcBef>
              <a:buFont typeface="+mj-lt"/>
              <a:buAutoNum type="arabicPeriod"/>
              <a:defRPr/>
            </a:pPr>
            <a:endParaRPr lang="en-US" sz="1400" dirty="0"/>
          </a:p>
          <a:p>
            <a:pPr marL="220662" indent="-342900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1400" b="1" dirty="0"/>
              <a:t>Stateful 30-day multi-agent architecture</a:t>
            </a:r>
            <a:r>
              <a:rPr lang="en-US" sz="1400" dirty="0"/>
              <a:t> — unlike one-time discharge apps, NovaCare's LangGraph-powered agents maintain full patient context and symptom trends across all 30 days continuously</a:t>
            </a:r>
          </a:p>
          <a:p>
            <a:pPr marL="220662" indent="-342900">
              <a:spcBef>
                <a:spcPts val="0"/>
              </a:spcBef>
              <a:buFont typeface="+mj-lt"/>
              <a:buAutoNum type="arabicPeriod"/>
              <a:defRPr/>
            </a:pPr>
            <a:endParaRPr lang="en-US" sz="1400" dirty="0"/>
          </a:p>
          <a:p>
            <a:pPr marL="220662" indent="-342900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1400" b="1" dirty="0"/>
              <a:t>Self-improving AI</a:t>
            </a:r>
            <a:r>
              <a:rPr lang="en-US" sz="1400" dirty="0"/>
              <a:t> — Day 30 ABHA outcome check automatically triggers weekly LightGBM model retraining via AWS SageMaker, meaning the system gets smarter with every patient cohort</a:t>
            </a:r>
          </a:p>
          <a:p>
            <a:pPr marL="163512" indent="-285750">
              <a:spcBef>
                <a:spcPts val="0"/>
              </a:spcBef>
              <a:buFontTx/>
              <a:buChar char="-"/>
              <a:defRPr/>
            </a:pPr>
            <a:r>
              <a:rPr lang="en-US" sz="1400" b="1" dirty="0"/>
              <a:t>Real-time risk prediction with action</a:t>
            </a:r>
            <a:r>
              <a:rPr lang="en-US" sz="1400" dirty="0"/>
              <a:t> – not just alerts, but automatic escalation and teleconsultation</a:t>
            </a:r>
          </a:p>
          <a:p>
            <a:pPr marL="163512" indent="-285750">
              <a:spcBef>
                <a:spcPts val="0"/>
              </a:spcBef>
              <a:buFontTx/>
              <a:buChar char="-"/>
              <a:defRPr/>
            </a:pPr>
            <a:endParaRPr lang="en-US" sz="1400" dirty="0"/>
          </a:p>
          <a:p>
            <a:pPr marL="163512" indent="-285750">
              <a:spcBef>
                <a:spcPts val="0"/>
              </a:spcBef>
              <a:buFontTx/>
              <a:buChar char="-"/>
              <a:defRPr/>
            </a:pPr>
            <a:r>
              <a:rPr lang="en-US" sz="1400" b="1" dirty="0"/>
              <a:t>Seamless integration with India Stack</a:t>
            </a:r>
            <a:r>
              <a:rPr lang="en-US" sz="1400" dirty="0"/>
              <a:t> (ABDM, ABHA, eSanjeevani) – no need for new apps or systems</a:t>
            </a:r>
            <a:endParaRPr lang="en-US" sz="1400" dirty="0">
              <a:solidFill>
                <a:schemeClr val="tx2"/>
              </a:solidFill>
            </a:endParaRPr>
          </a:p>
          <a:p>
            <a:pPr indent="-122238">
              <a:spcBef>
                <a:spcPts val="0"/>
              </a:spcBef>
              <a:defRPr/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185B65-BFBE-8996-BFCB-A93D2E21224C}"/>
              </a:ext>
            </a:extLst>
          </p:cNvPr>
          <p:cNvSpPr/>
          <p:nvPr/>
        </p:nvSpPr>
        <p:spPr>
          <a:xfrm>
            <a:off x="6188785" y="1024939"/>
            <a:ext cx="4522758" cy="414434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Business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 Impact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A194955-6208-156E-96F5-58AEA47DF8BA}"/>
              </a:ext>
            </a:extLst>
          </p:cNvPr>
          <p:cNvSpPr txBox="1">
            <a:spLocks/>
          </p:cNvSpPr>
          <p:nvPr/>
        </p:nvSpPr>
        <p:spPr>
          <a:xfrm>
            <a:off x="6235831" y="1461145"/>
            <a:ext cx="5334231" cy="42995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17–28%</a:t>
            </a:r>
            <a:r>
              <a:rPr lang="en-IN" dirty="0"/>
              <a:t> reduction in 30-day readmissions</a:t>
            </a:r>
          </a:p>
          <a:p>
            <a:r>
              <a:rPr lang="en-IN" b="1" dirty="0"/>
              <a:t>95%</a:t>
            </a:r>
            <a:r>
              <a:rPr lang="en-IN" dirty="0"/>
              <a:t> automation of routine nursing check-ins</a:t>
            </a:r>
          </a:p>
          <a:p>
            <a:r>
              <a:rPr lang="en-IN" b="1" dirty="0"/>
              <a:t>Plug-and-play</a:t>
            </a:r>
            <a:r>
              <a:rPr lang="en-IN" dirty="0"/>
              <a:t> ABDM · any hospital onboards in 24 hrs</a:t>
            </a:r>
          </a:p>
          <a:p>
            <a:r>
              <a:rPr lang="en-IN" b="1" dirty="0"/>
              <a:t>333x ROI</a:t>
            </a:r>
            <a:r>
              <a:rPr lang="en-IN" dirty="0"/>
              <a:t> · ₹120 monitoring vs ₹40,000+ readmission</a:t>
            </a:r>
          </a:p>
          <a:p>
            <a:r>
              <a:rPr lang="en-IN" b="1" dirty="0"/>
              <a:t>1 prevented ICU readmission</a:t>
            </a:r>
            <a:r>
              <a:rPr lang="en-IN" dirty="0"/>
              <a:t> = 6+ months of CareBridge</a:t>
            </a:r>
          </a:p>
          <a:p>
            <a:r>
              <a:rPr lang="en-IN" b="1" dirty="0"/>
              <a:t>3 Revenue Streams:</a:t>
            </a:r>
            <a:r>
              <a:rPr lang="en-IN" dirty="0"/>
              <a:t> · Private Hospitals — SaaS ₹150/patient/month · PMJAY/NHA — ₹250/episode outcome-linked · Pharma/Insurers — RWE data licensing</a:t>
            </a:r>
          </a:p>
          <a:p>
            <a:r>
              <a:rPr lang="en-US" b="1" dirty="0"/>
              <a:t>1.5L Ayushman Mandirs</a:t>
            </a:r>
            <a:r>
              <a:rPr lang="en-US" dirty="0"/>
              <a:t> reachable · same platform · zero extra cost</a:t>
            </a:r>
          </a:p>
          <a:p>
            <a:r>
              <a:rPr lang="en-US" b="1" dirty="0"/>
              <a:t>1 API key</a:t>
            </a:r>
            <a:r>
              <a:rPr lang="en-US" dirty="0"/>
              <a:t> · any NABH hospital goes live instantly · no custom dev needed</a:t>
            </a:r>
            <a:endParaRPr lang="en-IN" dirty="0"/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0"/>
              </a:spcBef>
            </a:pPr>
            <a:endParaRPr lang="en-US" sz="1200" dirty="0">
              <a:solidFill>
                <a:schemeClr val="tx2"/>
              </a:solidFill>
            </a:endParaRPr>
          </a:p>
          <a:p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&lt;&lt;</a:t>
            </a:r>
            <a:r>
              <a:rPr lang="en-US" sz="2400" dirty="0">
                <a:solidFill>
                  <a:srgbClr val="FFFFFF"/>
                </a:solidFill>
                <a:latin typeface="Arial" panose="020B0604020202020204"/>
              </a:rPr>
              <a:t>NovaCare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&gt;&gt;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691981"/>
            <a:ext cx="5426785" cy="405299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Technical Design and architecture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419FAC-8785-3B4C-7FFB-E56CF7EFE1C5}"/>
              </a:ext>
            </a:extLst>
          </p:cNvPr>
          <p:cNvCxnSpPr>
            <a:cxnSpLocks/>
          </p:cNvCxnSpPr>
          <p:nvPr/>
        </p:nvCxnSpPr>
        <p:spPr>
          <a:xfrm>
            <a:off x="1681513" y="1426005"/>
            <a:ext cx="3046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DF3BB1-67B9-2933-090F-6928EB246D25}"/>
              </a:ext>
            </a:extLst>
          </p:cNvPr>
          <p:cNvSpPr/>
          <p:nvPr/>
        </p:nvSpPr>
        <p:spPr>
          <a:xfrm>
            <a:off x="516814" y="1210303"/>
            <a:ext cx="1164699" cy="43140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ABDM  FHIR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AAA54EC-C312-9730-E961-BF8E1F287233}"/>
              </a:ext>
            </a:extLst>
          </p:cNvPr>
          <p:cNvSpPr/>
          <p:nvPr/>
        </p:nvSpPr>
        <p:spPr>
          <a:xfrm>
            <a:off x="2514600" y="5349234"/>
            <a:ext cx="914400" cy="1473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571ACE-D244-4100-6607-564B38A6E7D7}"/>
              </a:ext>
            </a:extLst>
          </p:cNvPr>
          <p:cNvSpPr/>
          <p:nvPr/>
        </p:nvSpPr>
        <p:spPr>
          <a:xfrm>
            <a:off x="1986116" y="1210303"/>
            <a:ext cx="1152409" cy="487948"/>
          </a:xfrm>
          <a:prstGeom prst="roundRect">
            <a:avLst/>
          </a:prstGeom>
          <a:solidFill>
            <a:srgbClr val="7F7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Agent 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B03A59C-85D2-1646-9443-4F27381FB43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3138525" y="1454277"/>
            <a:ext cx="3138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4A79684-A54E-FA96-005B-2861639002D5}"/>
              </a:ext>
            </a:extLst>
          </p:cNvPr>
          <p:cNvSpPr/>
          <p:nvPr/>
        </p:nvSpPr>
        <p:spPr>
          <a:xfrm>
            <a:off x="3429000" y="1198682"/>
            <a:ext cx="1234441" cy="499566"/>
          </a:xfrm>
          <a:prstGeom prst="roundRect">
            <a:avLst>
              <a:gd name="adj" fmla="val 22620"/>
            </a:avLst>
          </a:prstGeom>
          <a:solidFill>
            <a:srgbClr val="EF9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Patient &amp; Family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9C8678-544B-1F71-041F-C49518ECB6FC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2562321" y="1698251"/>
            <a:ext cx="0" cy="2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49B615C-319F-8698-A6F4-F9E8013F912A}"/>
              </a:ext>
            </a:extLst>
          </p:cNvPr>
          <p:cNvSpPr/>
          <p:nvPr/>
        </p:nvSpPr>
        <p:spPr>
          <a:xfrm>
            <a:off x="1986117" y="1903651"/>
            <a:ext cx="1081540" cy="464143"/>
          </a:xfrm>
          <a:prstGeom prst="roundRect">
            <a:avLst/>
          </a:prstGeom>
          <a:solidFill>
            <a:srgbClr val="7F7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Agent2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0D7A47-2877-72FA-F8B7-921101BF65EA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3067657" y="2135723"/>
            <a:ext cx="38470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1FE2B7B-00F7-8B59-626C-3B7112030CE0}"/>
              </a:ext>
            </a:extLst>
          </p:cNvPr>
          <p:cNvSpPr/>
          <p:nvPr/>
        </p:nvSpPr>
        <p:spPr>
          <a:xfrm>
            <a:off x="3452358" y="1897808"/>
            <a:ext cx="1211077" cy="499566"/>
          </a:xfrm>
          <a:prstGeom prst="roundRect">
            <a:avLst/>
          </a:prstGeom>
          <a:solidFill>
            <a:srgbClr val="7F7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Agent3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5C8CB1-00B5-9BD6-734F-7B5D164412E0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4057897" y="2397374"/>
            <a:ext cx="9424" cy="271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FDADE13-12CE-22F8-59DB-E308739310DA}"/>
              </a:ext>
            </a:extLst>
          </p:cNvPr>
          <p:cNvSpPr/>
          <p:nvPr/>
        </p:nvSpPr>
        <p:spPr>
          <a:xfrm>
            <a:off x="3461779" y="2669154"/>
            <a:ext cx="1201653" cy="499565"/>
          </a:xfrm>
          <a:prstGeom prst="roundRect">
            <a:avLst/>
          </a:prstGeom>
          <a:solidFill>
            <a:srgbClr val="D85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Escalation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69C141D-9624-7E5F-154A-D1BC62532690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4062606" y="3168719"/>
            <a:ext cx="4715" cy="331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77BAB9C-C89A-6750-A961-48EB51DC777B}"/>
              </a:ext>
            </a:extLst>
          </p:cNvPr>
          <p:cNvSpPr/>
          <p:nvPr/>
        </p:nvSpPr>
        <p:spPr>
          <a:xfrm>
            <a:off x="3452359" y="3500285"/>
            <a:ext cx="1201653" cy="49956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Day 30 ABHA Outcome Check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2B2363C-F99D-D582-08BA-E219CBF6E8B4}"/>
              </a:ext>
            </a:extLst>
          </p:cNvPr>
          <p:cNvCxnSpPr>
            <a:cxnSpLocks/>
          </p:cNvCxnSpPr>
          <p:nvPr/>
        </p:nvCxnSpPr>
        <p:spPr>
          <a:xfrm>
            <a:off x="4080757" y="3999849"/>
            <a:ext cx="0" cy="346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7EBFCEF-8886-2675-DC99-8ED2DFDAB4F7}"/>
              </a:ext>
            </a:extLst>
          </p:cNvPr>
          <p:cNvSpPr/>
          <p:nvPr/>
        </p:nvSpPr>
        <p:spPr>
          <a:xfrm>
            <a:off x="1140542" y="4407446"/>
            <a:ext cx="1563330" cy="518954"/>
          </a:xfrm>
          <a:prstGeom prst="roundRect">
            <a:avLst/>
          </a:prstGeom>
          <a:solidFill>
            <a:srgbClr val="8887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SageMaker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B1E3A68-B3BA-9B39-C31D-66A1B6C624D7}"/>
              </a:ext>
            </a:extLst>
          </p:cNvPr>
          <p:cNvCxnSpPr>
            <a:cxnSpLocks/>
          </p:cNvCxnSpPr>
          <p:nvPr/>
        </p:nvCxnSpPr>
        <p:spPr>
          <a:xfrm>
            <a:off x="2689555" y="4642563"/>
            <a:ext cx="656960" cy="13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E0F5B80-2D4C-5A32-DD6E-2B4D6506A57B}"/>
              </a:ext>
            </a:extLst>
          </p:cNvPr>
          <p:cNvSpPr/>
          <p:nvPr/>
        </p:nvSpPr>
        <p:spPr>
          <a:xfrm>
            <a:off x="3358984" y="4345859"/>
            <a:ext cx="1930769" cy="580542"/>
          </a:xfrm>
          <a:prstGeom prst="roundRect">
            <a:avLst/>
          </a:prstGeom>
          <a:solidFill>
            <a:srgbClr val="D85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Optimized Model</a:t>
            </a: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FBBBF97D-9C7E-9570-A9F2-C507EBA12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180547"/>
              </p:ext>
            </p:extLst>
          </p:nvPr>
        </p:nvGraphicFramePr>
        <p:xfrm>
          <a:off x="5962447" y="1305013"/>
          <a:ext cx="5777865" cy="3542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351">
                  <a:extLst>
                    <a:ext uri="{9D8B030D-6E8A-4147-A177-3AD203B41FA5}">
                      <a16:colId xmlns:a16="http://schemas.microsoft.com/office/drawing/2014/main" val="2620322287"/>
                    </a:ext>
                  </a:extLst>
                </a:gridCol>
                <a:gridCol w="1224379">
                  <a:extLst>
                    <a:ext uri="{9D8B030D-6E8A-4147-A177-3AD203B41FA5}">
                      <a16:colId xmlns:a16="http://schemas.microsoft.com/office/drawing/2014/main" val="2414928330"/>
                    </a:ext>
                  </a:extLst>
                </a:gridCol>
                <a:gridCol w="1298182">
                  <a:extLst>
                    <a:ext uri="{9D8B030D-6E8A-4147-A177-3AD203B41FA5}">
                      <a16:colId xmlns:a16="http://schemas.microsoft.com/office/drawing/2014/main" val="1299972527"/>
                    </a:ext>
                  </a:extLst>
                </a:gridCol>
                <a:gridCol w="1150308">
                  <a:extLst>
                    <a:ext uri="{9D8B030D-6E8A-4147-A177-3AD203B41FA5}">
                      <a16:colId xmlns:a16="http://schemas.microsoft.com/office/drawing/2014/main" val="2971956758"/>
                    </a:ext>
                  </a:extLst>
                </a:gridCol>
                <a:gridCol w="1224645">
                  <a:extLst>
                    <a:ext uri="{9D8B030D-6E8A-4147-A177-3AD203B41FA5}">
                      <a16:colId xmlns:a16="http://schemas.microsoft.com/office/drawing/2014/main" val="1997047008"/>
                    </a:ext>
                  </a:extLst>
                </a:gridCol>
              </a:tblGrid>
              <a:tr h="77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Trigger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It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828176"/>
                  </a:ext>
                </a:extLst>
              </a:tr>
              <a:tr h="692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Discharge Translator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ABDM · Day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FHIR → 12 languages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Care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899711"/>
                  </a:ext>
                </a:extLst>
              </a:tr>
              <a:tr h="692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Daily Pulse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Daily · Days 1–30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WhatsApp/IVR +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Data Captured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8520"/>
                  </a:ext>
                </a:extLst>
              </a:tr>
              <a:tr h="692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Risk Orchestrator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LightGBM · auto-escalate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Intervention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633168"/>
                  </a:ext>
                </a:extLst>
              </a:tr>
              <a:tr h="692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Continuity Bridge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Medication + UHI sync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Care Loop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0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EBD7C2-ABAF-7D0F-B3A2-993B35CBBCB8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9DA6-B2BF-8792-AD1F-23DAFC89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Cognizant 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1B0EF-F52D-5F0F-23C8-71608472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B8E245-4828-3B89-44E7-B5C08C114BE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&lt;&lt;</a:t>
            </a:r>
            <a:r>
              <a:rPr lang="en-US" sz="2400" dirty="0">
                <a:solidFill>
                  <a:srgbClr val="FFFFFF"/>
                </a:solidFill>
                <a:latin typeface="Arial" panose="020B0604020202020204"/>
              </a:rPr>
              <a:t>NovaCare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&gt;&gt;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714BA1E-65C7-7C9C-3F08-0D0484356266}"/>
              </a:ext>
            </a:extLst>
          </p:cNvPr>
          <p:cNvSpPr/>
          <p:nvPr/>
        </p:nvSpPr>
        <p:spPr>
          <a:xfrm>
            <a:off x="516815" y="1044264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Scalable / Reusable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36AB9FD5-0256-0FA8-A120-BB54470525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029200" cy="4998975"/>
          </a:xfrm>
        </p:spPr>
        <p:txBody>
          <a:bodyPr/>
          <a:lstStyle/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/>
              <a:t>MVP live in 24 hours</a:t>
            </a:r>
            <a:r>
              <a:rPr lang="en-US" sz="1400" dirty="0"/>
              <a:t> using existing AWS + India Stack — no new infrastructure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IN" sz="1400" b="1" dirty="0"/>
              <a:t>2 hospitals → 1.5L Ayushman Mandirs</a:t>
            </a:r>
            <a:r>
              <a:rPr lang="en-IN" sz="1400" dirty="0"/>
              <a:t> — same platform, national scale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/>
              <a:t>FHIR standard</a:t>
            </a:r>
            <a:r>
              <a:rPr lang="en-US" sz="1400" dirty="0"/>
              <a:t> — globally interoperable, SAARC expansion ready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/>
              <a:t>Self-improving weekly</a:t>
            </a:r>
            <a:r>
              <a:rPr lang="en-US" sz="1400" dirty="0"/>
              <a:t> — SageMaker retrains automatically with every cohort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/>
              <a:t>One API key</a:t>
            </a:r>
            <a:r>
              <a:rPr lang="en-US" sz="1400" dirty="0"/>
              <a:t> — any NABH hospital activates instantly, zero custom development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/>
              <a:t>4 modular agents</a:t>
            </a:r>
            <a:r>
              <a:rPr lang="en-US" sz="1400" dirty="0"/>
              <a:t> — deploy all or just one based on hospital's existing setup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/>
              <a:t>3 revenue models</a:t>
            </a:r>
            <a:r>
              <a:rPr lang="en-US" sz="1400" dirty="0"/>
              <a:t> — SaaS / PMJAY outcome-linked / insurer RWE, same platform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/>
              <a:t>Any condition, any language</a:t>
            </a:r>
            <a:r>
              <a:rPr lang="en-US" sz="1400" dirty="0"/>
              <a:t> — extend via FHIR templates + </a:t>
            </a:r>
            <a:r>
              <a:rPr lang="en-US" sz="1400" dirty="0" err="1"/>
              <a:t>IndicNLP</a:t>
            </a:r>
            <a:r>
              <a:rPr lang="en-US" sz="1400" dirty="0"/>
              <a:t>, no code change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  <a:p>
            <a:pPr marL="91440" lvl="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CF91496-85DD-D02F-082E-D49F7DFA647E}"/>
              </a:ext>
            </a:extLst>
          </p:cNvPr>
          <p:cNvSpPr/>
          <p:nvPr/>
        </p:nvSpPr>
        <p:spPr>
          <a:xfrm>
            <a:off x="6188785" y="1024939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A7FA394-9C18-5BA5-A7E4-5BC0E1FA68C8}"/>
              </a:ext>
            </a:extLst>
          </p:cNvPr>
          <p:cNvSpPr txBox="1">
            <a:spLocks/>
          </p:cNvSpPr>
          <p:nvPr/>
        </p:nvSpPr>
        <p:spPr>
          <a:xfrm>
            <a:off x="6235831" y="1369821"/>
            <a:ext cx="5322922" cy="428372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6555B72-456D-EA6E-C345-BD02AD59C09B}"/>
              </a:ext>
            </a:extLst>
          </p:cNvPr>
          <p:cNvSpPr/>
          <p:nvPr/>
        </p:nvSpPr>
        <p:spPr>
          <a:xfrm>
            <a:off x="6756305" y="1600651"/>
            <a:ext cx="388869" cy="396000"/>
          </a:xfrm>
          <a:prstGeom prst="flowChartConnector">
            <a:avLst/>
          </a:prstGeom>
          <a:solidFill>
            <a:srgbClr val="1D9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91BCA9-63AF-33D4-13C7-F4893E51DAAC}"/>
              </a:ext>
            </a:extLst>
          </p:cNvPr>
          <p:cNvCxnSpPr>
            <a:cxnSpLocks/>
          </p:cNvCxnSpPr>
          <p:nvPr/>
        </p:nvCxnSpPr>
        <p:spPr>
          <a:xfrm>
            <a:off x="6950739" y="2003115"/>
            <a:ext cx="0" cy="40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50E0901-6BF0-C870-4A0E-56D77179400E}"/>
              </a:ext>
            </a:extLst>
          </p:cNvPr>
          <p:cNvSpPr txBox="1"/>
          <p:nvPr/>
        </p:nvSpPr>
        <p:spPr>
          <a:xfrm>
            <a:off x="5638800" y="29514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IN" sz="1600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B1413-AFB3-1846-3FBE-EC07EE03EA54}"/>
              </a:ext>
            </a:extLst>
          </p:cNvPr>
          <p:cNvSpPr txBox="1"/>
          <p:nvPr/>
        </p:nvSpPr>
        <p:spPr>
          <a:xfrm>
            <a:off x="7466441" y="1691692"/>
            <a:ext cx="2133656" cy="5028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IN" sz="1600" dirty="0">
              <a:solidFill>
                <a:schemeClr val="tx2"/>
              </a:solidFill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1DB0826B-3193-0BBD-F8CE-19E13DD51EF2}"/>
              </a:ext>
            </a:extLst>
          </p:cNvPr>
          <p:cNvSpPr/>
          <p:nvPr/>
        </p:nvSpPr>
        <p:spPr>
          <a:xfrm>
            <a:off x="6758806" y="2435709"/>
            <a:ext cx="388868" cy="396000"/>
          </a:xfrm>
          <a:prstGeom prst="flowChartConnector">
            <a:avLst/>
          </a:prstGeom>
          <a:solidFill>
            <a:srgbClr val="7F7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59765D-FC3B-37A1-E323-2B9B71A97EBF}"/>
              </a:ext>
            </a:extLst>
          </p:cNvPr>
          <p:cNvCxnSpPr>
            <a:stCxn id="21" idx="4"/>
          </p:cNvCxnSpPr>
          <p:nvPr/>
        </p:nvCxnSpPr>
        <p:spPr>
          <a:xfrm>
            <a:off x="6953240" y="2831709"/>
            <a:ext cx="12628" cy="46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2EE7AA-95C7-0E2B-A86E-9EA3802E3ECC}"/>
              </a:ext>
            </a:extLst>
          </p:cNvPr>
          <p:cNvSpPr txBox="1"/>
          <p:nvPr/>
        </p:nvSpPr>
        <p:spPr>
          <a:xfrm>
            <a:off x="7466441" y="2700033"/>
            <a:ext cx="2308844" cy="5028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IN" sz="1600" dirty="0">
              <a:solidFill>
                <a:schemeClr val="tx2"/>
              </a:solidFill>
            </a:endParaRP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668F437B-F41F-99B4-CAE9-F50386461E39}"/>
              </a:ext>
            </a:extLst>
          </p:cNvPr>
          <p:cNvSpPr/>
          <p:nvPr/>
        </p:nvSpPr>
        <p:spPr>
          <a:xfrm>
            <a:off x="6765120" y="3302327"/>
            <a:ext cx="388868" cy="396000"/>
          </a:xfrm>
          <a:prstGeom prst="flowChartConnector">
            <a:avLst/>
          </a:prstGeom>
          <a:solidFill>
            <a:srgbClr val="8887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6A114F-CB9C-8E6E-8953-0A39E245110C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6959554" y="3698327"/>
            <a:ext cx="0" cy="45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B7A658AC-306A-D026-A099-ACFF17262AA8}"/>
              </a:ext>
            </a:extLst>
          </p:cNvPr>
          <p:cNvSpPr/>
          <p:nvPr/>
        </p:nvSpPr>
        <p:spPr>
          <a:xfrm>
            <a:off x="6756305" y="4150104"/>
            <a:ext cx="388868" cy="39600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C9757B-85A8-5349-8909-A1DC9C60FAE8}"/>
              </a:ext>
            </a:extLst>
          </p:cNvPr>
          <p:cNvSpPr txBox="1"/>
          <p:nvPr/>
        </p:nvSpPr>
        <p:spPr>
          <a:xfrm>
            <a:off x="7466440" y="3545320"/>
            <a:ext cx="2468936" cy="39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IN" sz="1600" dirty="0">
              <a:solidFill>
                <a:schemeClr val="tx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9334F8-A3AD-156C-5368-791961D6AA0E}"/>
              </a:ext>
            </a:extLst>
          </p:cNvPr>
          <p:cNvSpPr txBox="1"/>
          <p:nvPr/>
        </p:nvSpPr>
        <p:spPr>
          <a:xfrm>
            <a:off x="7466439" y="4104120"/>
            <a:ext cx="2306087" cy="6345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IN" sz="1600" dirty="0">
              <a:solidFill>
                <a:schemeClr val="tx2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10C9ADF-02E6-03A5-136F-02AE0F5F5A96}"/>
              </a:ext>
            </a:extLst>
          </p:cNvPr>
          <p:cNvSpPr/>
          <p:nvPr/>
        </p:nvSpPr>
        <p:spPr>
          <a:xfrm>
            <a:off x="7451313" y="1611134"/>
            <a:ext cx="2195830" cy="58073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2–3 hospitals~1000</a:t>
            </a:r>
          </a:p>
          <a:p>
            <a:pPr algn="ctr"/>
            <a:r>
              <a:rPr lang="en-US" sz="1400" dirty="0"/>
              <a:t> patientsMonth 1–3</a:t>
            </a:r>
            <a:endParaRPr lang="en-IN" sz="14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2ABB9BA-AA83-AB78-6B4F-DC5EDD71365C}"/>
              </a:ext>
            </a:extLst>
          </p:cNvPr>
          <p:cNvSpPr/>
          <p:nvPr/>
        </p:nvSpPr>
        <p:spPr>
          <a:xfrm>
            <a:off x="7464587" y="2435709"/>
            <a:ext cx="2308844" cy="526943"/>
          </a:xfrm>
          <a:prstGeom prst="roundRect">
            <a:avLst>
              <a:gd name="adj" fmla="val 25465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20 hospitalsState-wideMonth 4–6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9123767-BF3F-4CF7-699F-3B317744AE23}"/>
              </a:ext>
            </a:extLst>
          </p:cNvPr>
          <p:cNvSpPr/>
          <p:nvPr/>
        </p:nvSpPr>
        <p:spPr>
          <a:xfrm>
            <a:off x="7463688" y="3307535"/>
            <a:ext cx="2308844" cy="558800"/>
          </a:xfrm>
          <a:prstGeom prst="roundRect">
            <a:avLst/>
          </a:prstGeom>
          <a:solidFill>
            <a:schemeClr val="bg2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Govt. deployABDM integrationMonth 7–12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3162F25-1B67-7C06-CC8E-0661D0C9CE28}"/>
              </a:ext>
            </a:extLst>
          </p:cNvPr>
          <p:cNvSpPr/>
          <p:nvPr/>
        </p:nvSpPr>
        <p:spPr>
          <a:xfrm>
            <a:off x="7463688" y="4150104"/>
            <a:ext cx="2308844" cy="558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Hospitals +Insurers + RuralYear 2+</a:t>
            </a: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E9CB199-0BA9-41BA-E141-195D9CAFABE9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457199" y="1424401"/>
            <a:ext cx="5717459" cy="4191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11C12-28EF-F71B-D142-F548CC8DC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Cognizant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97820-B889-1576-C624-8FF4F272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5AD7DF-5DC9-2B89-DEDD-62C3AA29B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57213"/>
            <a:ext cx="10807700" cy="30797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&lt;&lt;</a:t>
            </a:r>
            <a:r>
              <a:rPr lang="en-US" sz="2400" dirty="0">
                <a:solidFill>
                  <a:srgbClr val="FFFFFF"/>
                </a:solidFill>
                <a:latin typeface="Arial" panose="020B0604020202020204"/>
              </a:rPr>
              <a:t>NovaCare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&gt;&gt;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9A3342-F137-BCD8-095C-970A17C477F3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solidFill>
                <a:srgbClr val="FFFFFF"/>
              </a:solidFill>
            </a:endParaRPr>
          </a:p>
          <a:p>
            <a:r>
              <a:rPr lang="en-IN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>
                <a:solidFill>
                  <a:srgbClr val="FFFFFF"/>
                </a:solidFill>
                <a:cs typeface="Arial" panose="020B0604020202020204" pitchFamily="34" charset="0"/>
              </a:rPr>
              <a:t>&lt;&lt;</a:t>
            </a:r>
            <a:r>
              <a:rPr lang="en-US" sz="2400" dirty="0">
                <a:solidFill>
                  <a:srgbClr val="FFFFFF"/>
                </a:solidFill>
              </a:rPr>
              <a:t>NovaCare</a:t>
            </a:r>
            <a:r>
              <a:rPr lang="en-US" sz="2400" b="1" dirty="0">
                <a:solidFill>
                  <a:srgbClr val="FFFFFF"/>
                </a:solidFill>
                <a:cs typeface="Arial" panose="020B0604020202020204" pitchFamily="34" charset="0"/>
              </a:rPr>
              <a:t>&gt;&gt;</a:t>
            </a:r>
            <a:endParaRPr lang="en-US" sz="2400" dirty="0">
              <a:solidFill>
                <a:srgbClr val="FFFFFF"/>
              </a:solidFill>
              <a:cs typeface="Arial" panose="020B0604020202020204" pitchFamily="34" charset="0"/>
            </a:endParaRPr>
          </a:p>
          <a:p>
            <a:endParaRPr lang="en-IN" sz="2400" b="1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A339DEBF-2CF4-80E3-A033-1C88EDE1A201}"/>
              </a:ext>
            </a:extLst>
          </p:cNvPr>
          <p:cNvSpPr/>
          <p:nvPr/>
        </p:nvSpPr>
        <p:spPr>
          <a:xfrm>
            <a:off x="459215" y="865188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Our Code Snip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923507E6-FDFE-70DF-918F-A46552DD9EA6}"/>
              </a:ext>
            </a:extLst>
          </p:cNvPr>
          <p:cNvSpPr/>
          <p:nvPr/>
        </p:nvSpPr>
        <p:spPr>
          <a:xfrm>
            <a:off x="7034360" y="865188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Our Code Links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BCF7AE-6001-1DB9-3696-477429FADE24}"/>
              </a:ext>
            </a:extLst>
          </p:cNvPr>
          <p:cNvSpPr txBox="1"/>
          <p:nvPr/>
        </p:nvSpPr>
        <p:spPr>
          <a:xfrm>
            <a:off x="7285702" y="1897624"/>
            <a:ext cx="4611330" cy="26940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IN" sz="1600" dirty="0">
                <a:solidFill>
                  <a:schemeClr val="tx2"/>
                </a:solidFill>
              </a:rPr>
              <a:t>Our entire code has pushed on Github</a:t>
            </a:r>
          </a:p>
          <a:p>
            <a:endParaRPr lang="en-IN" sz="1600" b="1" dirty="0">
              <a:solidFill>
                <a:schemeClr val="tx2"/>
              </a:solidFill>
            </a:endParaRPr>
          </a:p>
          <a:p>
            <a:r>
              <a:rPr lang="en-IN" sz="1600" b="1" dirty="0">
                <a:solidFill>
                  <a:schemeClr val="tx2"/>
                </a:solidFill>
              </a:rPr>
              <a:t>Github Link : </a:t>
            </a:r>
            <a:endParaRPr lang="en-IN" sz="1600" dirty="0">
              <a:solidFill>
                <a:schemeClr val="tx2"/>
              </a:solidFill>
            </a:endParaRP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IN" sz="1600" dirty="0">
                <a:solidFill>
                  <a:schemeClr val="tx2"/>
                </a:solidFill>
              </a:rPr>
              <a:t>https://github.com/Naman12678/Novacare-platform</a:t>
            </a:r>
          </a:p>
        </p:txBody>
      </p:sp>
    </p:spTree>
    <p:extLst>
      <p:ext uri="{BB962C8B-B14F-4D97-AF65-F5344CB8AC3E}">
        <p14:creationId xmlns:p14="http://schemas.microsoft.com/office/powerpoint/2010/main" val="3023617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365335"/>
            <a:ext cx="4090023" cy="92333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572D9-700A-7FEC-1F56-7C7C6675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B3EE0-4971-0D8C-F534-22A0ECF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0a84972d-ef8c-45a9-9686-55cfd8231be0" xsi:nil="true"/>
    <MM xmlns="0a84972d-ef8c-45a9-9686-55cfd8231be0" xsi:nil="true"/>
    <_Flow_SignoffStatus xmlns="0a84972d-ef8c-45a9-9686-55cfd8231be0" xsi:nil="true"/>
    <lcf76f155ced4ddcb4097134ff3c332f xmlns="0a84972d-ef8c-45a9-9686-55cfd8231be0">
      <Terms xmlns="http://schemas.microsoft.com/office/infopath/2007/PartnerControls"/>
    </lcf76f155ced4ddcb4097134ff3c332f>
    <TaxCatchAll xmlns="3c35e321-f73a-4dae-ae38-a0459de2473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E60DD53B08764D9FBA21DBED3214CC" ma:contentTypeVersion="22" ma:contentTypeDescription="Create a new document." ma:contentTypeScope="" ma:versionID="3dd4086fc227d84930da0763be3e0042">
  <xsd:schema xmlns:xsd="http://www.w3.org/2001/XMLSchema" xmlns:xs="http://www.w3.org/2001/XMLSchema" xmlns:p="http://schemas.microsoft.com/office/2006/metadata/properties" xmlns:ns2="0a84972d-ef8c-45a9-9686-55cfd8231be0" xmlns:ns3="1eec79b3-321e-4dfa-8d23-6bc73fc62350" xmlns:ns4="3c35e321-f73a-4dae-ae38-a0459de24735" targetNamespace="http://schemas.microsoft.com/office/2006/metadata/properties" ma:root="true" ma:fieldsID="d8be992cee903fad960eda9f235136ae" ns2:_="" ns3:_="" ns4:_="">
    <xsd:import namespace="0a84972d-ef8c-45a9-9686-55cfd8231be0"/>
    <xsd:import namespace="1eec79b3-321e-4dfa-8d23-6bc73fc62350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Source" minOccurs="0"/>
                <xsd:element ref="ns2:MediaServiceBillingMetadata" minOccurs="0"/>
                <xsd:element ref="ns2:M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4972d-ef8c-45a9-9686-55cfd8231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ource" ma:index="27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M" ma:index="29" nillable="true" ma:displayName="MM" ma:format="DateOnly" ma:internalName="M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c79b3-321e-4dfa-8d23-6bc73fc6235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3e1da5-f246-4675-b38f-a7f514a07e2f}" ma:internalName="TaxCatchAll" ma:showField="CatchAllData" ma:web="1eec79b3-321e-4dfa-8d23-6bc73fc623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1035EC-6D18-44A4-BB42-C9DEBF2D5983}">
  <ds:schemaRefs>
    <ds:schemaRef ds:uri="0a84972d-ef8c-45a9-9686-55cfd8231be0"/>
    <ds:schemaRef ds:uri="http://schemas.microsoft.com/office/2006/documentManagement/types"/>
    <ds:schemaRef ds:uri="1eec79b3-321e-4dfa-8d23-6bc73fc62350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3c35e321-f73a-4dae-ae38-a0459de2473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B24D5D3-2BE3-4278-95F2-2A2616C3D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84972d-ef8c-45a9-9686-55cfd8231be0"/>
    <ds:schemaRef ds:uri="1eec79b3-321e-4dfa-8d23-6bc73fc62350"/>
    <ds:schemaRef ds:uri="3c35e321-f73a-4dae-ae38-a0459de24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7318</TotalTime>
  <Words>831</Words>
  <Application>Microsoft Office PowerPoint</Application>
  <PresentationFormat>Widescreen</PresentationFormat>
  <Paragraphs>157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1_Office Theme</vt:lpstr>
      <vt:lpstr>2_Office Theme</vt:lpstr>
      <vt:lpstr>MVP Presentation &lt;AvengersJIS&gt;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&lt;&lt;NovaCare&gt;&gt;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dc:creator>PUSPITA JANA</dc:creator>
  <cp:keywords/>
  <dc:description/>
  <cp:lastModifiedBy>Naman Sharma</cp:lastModifiedBy>
  <cp:revision>9</cp:revision>
  <dcterms:created xsi:type="dcterms:W3CDTF">2022-04-01T05:31:57Z</dcterms:created>
  <dcterms:modified xsi:type="dcterms:W3CDTF">2026-05-07T04:29:27Z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0x010100C0E60DD53B08764D9FBA21DBED3214CC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